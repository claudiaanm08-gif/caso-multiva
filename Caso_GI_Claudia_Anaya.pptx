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2" r:id="rId16"/>
    <p:sldId id="274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78BCB6B-B079-D8F9-F8D3-7143F61C9913}" name="Claudia Anaya" initials="CA" userId="3278684fd61bd16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A33D"/>
    <a:srgbClr val="161B44"/>
    <a:srgbClr val="C039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Cumplimiento (ajustado)</c:v>
                </c:pt>
              </c:strCache>
            </c:strRef>
          </c:tx>
          <c:spPr>
            <a:solidFill>
              <a:srgbClr val="1E8F6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56A-6B4D-9853-491EF7578121}"/>
              </c:ext>
            </c:extLst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56A-6B4D-9853-491EF7578121}"/>
              </c:ext>
            </c:extLst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56A-6B4D-9853-491EF7578121}"/>
              </c:ext>
            </c:extLst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56A-6B4D-9853-491EF7578121}"/>
              </c:ext>
            </c:extLst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56A-6B4D-9853-491EF7578121}"/>
              </c:ext>
            </c:extLst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56A-6B4D-9853-491EF7578121}"/>
              </c:ext>
            </c:extLst>
          </c:dPt>
          <c:dPt>
            <c:idx val="6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56A-6B4D-9853-491EF7578121}"/>
              </c:ext>
            </c:extLst>
          </c:dPt>
          <c:dPt>
            <c:idx val="7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E56A-6B4D-9853-491EF7578121}"/>
              </c:ext>
            </c:extLst>
          </c:dPt>
          <c:dPt>
            <c:idx val="8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E56A-6B4D-9853-491EF7578121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A2F45"/>
                    </a:solidFill>
                    <a:latin typeface="Arial"/>
                  </a:defRPr>
                </a:pPr>
                <a:endParaRPr lang="en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Raúl Mendoza</c:v>
                </c:pt>
                <c:pt idx="1">
                  <c:v>Ana Ramírez</c:v>
                </c:pt>
                <c:pt idx="2">
                  <c:v>Carla Núñez</c:v>
                </c:pt>
                <c:pt idx="3">
                  <c:v>Jorge Vega</c:v>
                </c:pt>
                <c:pt idx="4">
                  <c:v>Mónica Ibarra</c:v>
                </c:pt>
                <c:pt idx="5">
                  <c:v>Sofía León</c:v>
                </c:pt>
                <c:pt idx="6">
                  <c:v>Luis Herrera</c:v>
                </c:pt>
                <c:pt idx="7">
                  <c:v>Paola Cruz</c:v>
                </c:pt>
                <c:pt idx="8">
                  <c:v>Diego Salas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128</c:v>
                </c:pt>
                <c:pt idx="1">
                  <c:v>117.8</c:v>
                </c:pt>
                <c:pt idx="2">
                  <c:v>104.3</c:v>
                </c:pt>
                <c:pt idx="3">
                  <c:v>95.2</c:v>
                </c:pt>
                <c:pt idx="4">
                  <c:v>95.1</c:v>
                </c:pt>
                <c:pt idx="5">
                  <c:v>89.6</c:v>
                </c:pt>
                <c:pt idx="6">
                  <c:v>82</c:v>
                </c:pt>
                <c:pt idx="7">
                  <c:v>66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E56A-6B4D-9853-491EF75781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2F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Cumplimiento (ajustado)</c:v>
                </c:pt>
              </c:strCache>
            </c:strRef>
          </c:tx>
          <c:spPr>
            <a:solidFill>
              <a:srgbClr val="1E8F6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357-D54D-ADBE-A708766E62F4}"/>
              </c:ext>
            </c:extLst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357-D54D-ADBE-A708766E62F4}"/>
              </c:ext>
            </c:extLst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357-D54D-ADBE-A708766E62F4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A2F45"/>
                    </a:solidFill>
                    <a:latin typeface="Arial"/>
                  </a:defRPr>
                </a:pPr>
                <a:endParaRPr lang="en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Sur</c:v>
                </c:pt>
                <c:pt idx="1">
                  <c:v>Norte</c:v>
                </c:pt>
                <c:pt idx="2">
                  <c:v>Centro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</c:v>
                </c:pt>
                <c:pt idx="1">
                  <c:v>95.2</c:v>
                </c:pt>
                <c:pt idx="2">
                  <c:v>93.7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357-D54D-ADBE-A708766E62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F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 del total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8F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A92-5447-9D81-31F8DC019A63}"/>
              </c:ext>
            </c:extLst>
          </c:dPt>
          <c:dPt>
            <c:idx val="1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A92-5447-9D81-31F8DC019A63}"/>
              </c:ext>
            </c:extLst>
          </c:dPt>
          <c:dPt>
            <c:idx val="2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A92-5447-9D81-31F8DC019A63}"/>
              </c:ext>
            </c:extLst>
          </c:dPt>
          <c:dPt>
            <c:idx val="3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A92-5447-9D81-31F8DC019A63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A92-5447-9D81-31F8DC019A63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A92-5447-9D81-31F8DC019A63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A92-5447-9D81-31F8DC019A63}"/>
                </c:ext>
              </c:extLst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MX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A92-5447-9D81-31F8DC019A63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MX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Personas</c:v>
                </c:pt>
                <c:pt idx="1">
                  <c:v>Gobierno</c:v>
                </c:pt>
                <c:pt idx="2">
                  <c:v>Empresarial</c:v>
                </c:pt>
                <c:pt idx="3">
                  <c:v>Pyme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32.5</c:v>
                </c:pt>
                <c:pt idx="1">
                  <c:v>25.9</c:v>
                </c:pt>
                <c:pt idx="2">
                  <c:v>21</c:v>
                </c:pt>
                <c:pt idx="3">
                  <c:v>20.6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A92-5447-9D81-31F8DC019A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2A2F4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340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57032" y="4818888"/>
            <a:ext cx="457200" cy="1307592"/>
          </a:xfrm>
          <a:prstGeom prst="rect">
            <a:avLst/>
          </a:prstGeom>
          <a:solidFill>
            <a:srgbClr val="CADCFC">
              <a:alpha val="22000"/>
            </a:srgbClr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3" name="Shape 1"/>
          <p:cNvSpPr/>
          <p:nvPr/>
        </p:nvSpPr>
        <p:spPr>
          <a:xfrm>
            <a:off x="8878824" y="4224528"/>
            <a:ext cx="457200" cy="1901952"/>
          </a:xfrm>
          <a:prstGeom prst="rect">
            <a:avLst/>
          </a:prstGeom>
          <a:solidFill>
            <a:srgbClr val="CADCFC">
              <a:alpha val="22000"/>
            </a:srgbClr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4" name="Shape 2"/>
          <p:cNvSpPr/>
          <p:nvPr/>
        </p:nvSpPr>
        <p:spPr>
          <a:xfrm>
            <a:off x="9500616" y="4652467"/>
            <a:ext cx="457200" cy="1474013"/>
          </a:xfrm>
          <a:prstGeom prst="rect">
            <a:avLst/>
          </a:prstGeom>
          <a:solidFill>
            <a:srgbClr val="CADCFC">
              <a:alpha val="22000"/>
            </a:srgbClr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5" name="Shape 3"/>
          <p:cNvSpPr/>
          <p:nvPr/>
        </p:nvSpPr>
        <p:spPr>
          <a:xfrm>
            <a:off x="10122408" y="3749040"/>
            <a:ext cx="457200" cy="2377440"/>
          </a:xfrm>
          <a:prstGeom prst="rect">
            <a:avLst/>
          </a:prstGeom>
          <a:solidFill>
            <a:srgbClr val="CADCFC">
              <a:alpha val="22000"/>
            </a:srgbClr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6" name="Shape 4"/>
          <p:cNvSpPr/>
          <p:nvPr/>
        </p:nvSpPr>
        <p:spPr>
          <a:xfrm>
            <a:off x="10744200" y="4414723"/>
            <a:ext cx="457200" cy="1711757"/>
          </a:xfrm>
          <a:prstGeom prst="rect">
            <a:avLst/>
          </a:prstGeom>
          <a:solidFill>
            <a:srgbClr val="CADCFC">
              <a:alpha val="22000"/>
            </a:srgbClr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ESPECIALISTA: GESTIÓN DE INFORMACIÓN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Validación, conciliación y análisis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colocación semanal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 crudos a una </a:t>
            </a:r>
            <a:r>
              <a:rPr lang="en-US" sz="15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validada</a:t>
            </a: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709160"/>
            <a:ext cx="128016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1" name="Text 9"/>
          <p:cNvSpPr/>
          <p:nvPr/>
        </p:nvSpPr>
        <p:spPr>
          <a:xfrm>
            <a:off x="82296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Claudia Anaya Morales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CASO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reporte semanal de </a:t>
            </a:r>
            <a:r>
              <a:rPr lang="en-US" sz="3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colocación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la </a:t>
            </a:r>
            <a:r>
              <a:rPr lang="en-US" sz="3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400" dirty="0" err="1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</a:t>
            </a:r>
            <a:r>
              <a:rPr lang="en-US" sz="14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</a:t>
            </a:r>
            <a:r>
              <a:rPr lang="en-US" sz="14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hoja “Datos” con 56 operaciones de la semana, más 3 hojas de referencia (Control, Metas y un borrador de conclusiones) para validar contra ellas.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468880" cy="2331720"/>
          </a:xfrm>
          <a:prstGeom prst="roundRect">
            <a:avLst>
              <a:gd name="adj" fmla="val 313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6" name="Shape 4"/>
          <p:cNvSpPr/>
          <p:nvPr/>
        </p:nvSpPr>
        <p:spPr>
          <a:xfrm>
            <a:off x="777240" y="2788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y limpiar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y corregir problemas de calidad en 'Datos'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2514600"/>
            <a:ext cx="2468880" cy="2331720"/>
          </a:xfrm>
          <a:prstGeom prst="roundRect">
            <a:avLst>
              <a:gd name="adj" fmla="val 313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1" name="Shape 9"/>
          <p:cNvSpPr/>
          <p:nvPr/>
        </p:nvSpPr>
        <p:spPr>
          <a:xfrm>
            <a:off x="3474720" y="2788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2" name="Text 10"/>
          <p:cNvSpPr/>
          <p:nvPr/>
        </p:nvSpPr>
        <p:spPr>
          <a:xfrm>
            <a:off x="347472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3429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3886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Cuadrar el total limpio contra la cifra de 'Control'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0" y="2514600"/>
            <a:ext cx="2468880" cy="2331720"/>
          </a:xfrm>
          <a:prstGeom prst="roundRect">
            <a:avLst>
              <a:gd name="adj" fmla="val 313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6" name="Shape 14"/>
          <p:cNvSpPr/>
          <p:nvPr/>
        </p:nvSpPr>
        <p:spPr>
          <a:xfrm>
            <a:off x="6172200" y="2788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7" name="Text 15"/>
          <p:cNvSpPr/>
          <p:nvPr/>
        </p:nvSpPr>
        <p:spPr>
          <a:xfrm>
            <a:off x="617220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172200" y="3429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3886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vs. “Metas” y distribución por segmento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41080" y="2514600"/>
            <a:ext cx="2468880" cy="2331720"/>
          </a:xfrm>
          <a:prstGeom prst="roundRect">
            <a:avLst>
              <a:gd name="adj" fmla="val 313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1" name="Shape 19"/>
          <p:cNvSpPr/>
          <p:nvPr/>
        </p:nvSpPr>
        <p:spPr>
          <a:xfrm>
            <a:off x="8869680" y="2788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2" name="Text 20"/>
          <p:cNvSpPr/>
          <p:nvPr/>
        </p:nvSpPr>
        <p:spPr>
          <a:xfrm>
            <a:off x="886968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869680" y="3429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vs. IA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69680" y="38862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borrador de conclusiones sin validar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516636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este documento: mostrar no solo el resultado, sino el criterio detrás de </a:t>
            </a:r>
            <a:r>
              <a:rPr lang="en-US" sz="1300" i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300" i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</a:t>
            </a: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cuestionó, qué se validó y qué quedó marcado </a:t>
            </a:r>
            <a:r>
              <a:rPr lang="en-US" sz="1300" i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 — Claudia Anaya Morales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hay que saber antes de leer el detalle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487168" cy="3063240"/>
          </a:xfrm>
          <a:prstGeom prst="roundRect">
            <a:avLst>
              <a:gd name="adj" fmla="val 294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2121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8F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$69.7M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colocación validada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212140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$153.8M sin validar (214% de meta) que reportaba el borrador original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36976" y="1691640"/>
            <a:ext cx="2487168" cy="3063240"/>
          </a:xfrm>
          <a:prstGeom prst="roundRect">
            <a:avLst>
              <a:gd name="adj" fmla="val 294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9" name="Text 7"/>
          <p:cNvSpPr/>
          <p:nvPr/>
        </p:nvSpPr>
        <p:spPr>
          <a:xfrm>
            <a:off x="3419856" y="1965960"/>
            <a:ext cx="2121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8F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96.8%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19856" y="265176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meta semanal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19856" y="3200400"/>
            <a:ext cx="212140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total limpio y ajustado; el borrador afirmaba un 214% irreal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25312" y="1691640"/>
            <a:ext cx="2487168" cy="3063240"/>
          </a:xfrm>
          <a:prstGeom prst="roundRect">
            <a:avLst>
              <a:gd name="adj" fmla="val 294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3" name="Text 11"/>
          <p:cNvSpPr/>
          <p:nvPr/>
        </p:nvSpPr>
        <p:spPr>
          <a:xfrm>
            <a:off x="6108192" y="1965960"/>
            <a:ext cx="2121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08192" y="265176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explica casi todo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08192" y="3200400"/>
            <a:ext cx="212140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OP-1051 ($85M) es un outlier que distorsionaba ejecutivo, región y segmento líder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13648" y="1691640"/>
            <a:ext cx="2487168" cy="3063240"/>
          </a:xfrm>
          <a:prstGeom prst="roundRect">
            <a:avLst>
              <a:gd name="adj" fmla="val 294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7" name="Text 15"/>
          <p:cNvSpPr/>
          <p:nvPr/>
        </p:nvSpPr>
        <p:spPr>
          <a:xfrm>
            <a:off x="8796528" y="1965960"/>
            <a:ext cx="2121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-2.1%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796528" y="2651760"/>
            <a:ext cx="21214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sin explicar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96528" y="3200400"/>
            <a:ext cx="212140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$1.47M de brecha contra el control de sistemas, </a:t>
            </a:r>
            <a:r>
              <a:rPr lang="en-US" sz="10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marcada</a:t>
            </a: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 occulta) para validar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5029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hallazgo central del caso no es un </a:t>
            </a:r>
            <a:r>
              <a:rPr lang="en-US" sz="1400" i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es que </a:t>
            </a: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 estas cifras debía tomarse como cierta sin antes cuestionar de dónde salía</a:t>
            </a: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 — Claudia Anaya Morales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HIZO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Cálculos deterministas en Python; redacción asistida y verificada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es un CÁLCULO (totales, %, tablas, deduplicación, detección de outliers) se resuelve 100% en Python/pandas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0195560" cy="1965960"/>
          </a:xfrm>
          <a:prstGeom prst="roundRect">
            <a:avLst>
              <a:gd name="adj" fmla="val 3721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6" name="Text 4"/>
          <p:cNvSpPr/>
          <p:nvPr/>
        </p:nvSpPr>
        <p:spPr>
          <a:xfrm>
            <a:off x="868680" y="24871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generativa opcional (Ollama, modelo open source local)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907792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redacción de explicaciones y hallazgos se generó con un modelo de lenguaje corriendo local (sin API keys, sin enviar datos a internet). Cada texto generado pasa por un verificador automático que compara toda cifra citada contra las tablas ya calculadas y marca cualquier número que no cuadre — el modelo redacta, el código valida.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617720"/>
            <a:ext cx="184708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9" name="Text 7"/>
          <p:cNvSpPr/>
          <p:nvPr/>
        </p:nvSpPr>
        <p:spPr>
          <a:xfrm>
            <a:off x="548640" y="461772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crudos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95728" y="4617720"/>
            <a:ext cx="128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23744" y="4617720"/>
            <a:ext cx="1847088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2" name="Text 10"/>
          <p:cNvSpPr/>
          <p:nvPr/>
        </p:nvSpPr>
        <p:spPr>
          <a:xfrm>
            <a:off x="2523744" y="461772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(Python)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70832" y="4617720"/>
            <a:ext cx="128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98848" y="4617720"/>
            <a:ext cx="184708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5" name="Text 13"/>
          <p:cNvSpPr/>
          <p:nvPr/>
        </p:nvSpPr>
        <p:spPr>
          <a:xfrm>
            <a:off x="4498848" y="461772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Redacción (IA local)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45936" y="4617720"/>
            <a:ext cx="128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73952" y="4617720"/>
            <a:ext cx="1847088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8" name="Text 16"/>
          <p:cNvSpPr/>
          <p:nvPr/>
        </p:nvSpPr>
        <p:spPr>
          <a:xfrm>
            <a:off x="6473952" y="461772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(Python)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21040" y="4617720"/>
            <a:ext cx="128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449056" y="4617720"/>
            <a:ext cx="1847088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1" name="Text 19"/>
          <p:cNvSpPr/>
          <p:nvPr/>
        </p:nvSpPr>
        <p:spPr>
          <a:xfrm>
            <a:off x="8449056" y="4617720"/>
            <a:ext cx="18470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6235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Determinista y auditable en cada tramo — incluida la parte donde interviene el modelo.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 — Claudia Anaya Morales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· VALIDAR Y LIMPIAR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problemas de calidad encontrados en 'Datos'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195560" cy="658368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6" name="Text 4"/>
          <p:cNvSpPr/>
          <p:nvPr/>
        </p:nvSpPr>
        <p:spPr>
          <a:xfrm>
            <a:off x="1143000" y="160020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de fecha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023360" y="1600200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formatos mezclados en la misma columna (DD/MM/AAAA, AAAA-MM-DD, DD-Mon-AAAA) → estandarizados a ISO.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2487168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9" name="Text 7"/>
          <p:cNvSpPr/>
          <p:nvPr/>
        </p:nvSpPr>
        <p:spPr>
          <a:xfrm>
            <a:off x="1143000" y="225856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inconsistentes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023360" y="2258568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formas de escribir 4 segmentos ('PYME' / 'Pymes' / 'empresarial'...) → unificadas por similitud de texto.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16936"/>
            <a:ext cx="10195560" cy="658368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2" name="Shape 10"/>
          <p:cNvSpPr/>
          <p:nvPr/>
        </p:nvSpPr>
        <p:spPr>
          <a:xfrm>
            <a:off x="777240" y="3145536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3" name="Text 11"/>
          <p:cNvSpPr/>
          <p:nvPr/>
        </p:nvSpPr>
        <p:spPr>
          <a:xfrm>
            <a:off x="1143000" y="2916936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numérico mixto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023360" y="2916936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Montos con y sin separador de miles en la misma columna → convertidos a numérico puro.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3803904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6" name="Text 14"/>
          <p:cNvSpPr/>
          <p:nvPr/>
        </p:nvSpPr>
        <p:spPr>
          <a:xfrm>
            <a:off x="1143000" y="357530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duplicado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023360" y="3575304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OP-1054 capturada dos veces → se conserva el registro más completo.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233672"/>
            <a:ext cx="10195560" cy="658368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9" name="Shape 17"/>
          <p:cNvSpPr/>
          <p:nvPr/>
        </p:nvSpPr>
        <p:spPr>
          <a:xfrm>
            <a:off x="777240" y="4462272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0" name="Text 18"/>
          <p:cNvSpPr/>
          <p:nvPr/>
        </p:nvSpPr>
        <p:spPr>
          <a:xfrm>
            <a:off x="1143000" y="423367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faltante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023360" y="4233672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Ejecutivo vacío en una fila → marcado como 'Sin asignar', nunca inventado.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5120640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3" name="Text 21"/>
          <p:cNvSpPr/>
          <p:nvPr/>
        </p:nvSpPr>
        <p:spPr>
          <a:xfrm>
            <a:off x="1143000" y="48920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atípicos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023360" y="4892040"/>
            <a:ext cx="6583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monto negativo (OP-1052) y un outlier extremo (OP-1051) → conservados y marcados, no borrados a ciegas.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5660136"/>
            <a:ext cx="10195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56 filas leídas → 55 filas limpias, con criterio documentado en cada corrección.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 — Claudia Anaya Morales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· CONCILIAR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total crudo al total validado, partida por partida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barra roja es una decisión documentada, no un ajuste silencioso.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1371600" cy="24688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6" name="Text 4"/>
          <p:cNvSpPr/>
          <p:nvPr/>
        </p:nvSpPr>
        <p:spPr>
          <a:xfrm>
            <a:off x="548640" y="23134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$155.07M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514807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original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(56 filas)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29968" y="4937760"/>
            <a:ext cx="1371600" cy="1371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9" name="Text 7"/>
          <p:cNvSpPr/>
          <p:nvPr/>
        </p:nvSpPr>
        <p:spPr>
          <a:xfrm>
            <a:off x="2029968" y="46451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-$0.98M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29968" y="514807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Duplicado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11296" y="2621643"/>
            <a:ext cx="1371600" cy="2453277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2" name="Text 10"/>
          <p:cNvSpPr/>
          <p:nvPr/>
        </p:nvSpPr>
        <p:spPr>
          <a:xfrm>
            <a:off x="3511296" y="2329035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$154.09M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11296" y="514807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deduplicado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92624" y="3721629"/>
            <a:ext cx="1371600" cy="1353291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5" name="Text 13"/>
          <p:cNvSpPr/>
          <p:nvPr/>
        </p:nvSpPr>
        <p:spPr>
          <a:xfrm>
            <a:off x="4992624" y="3429021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-$85.00M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92624" y="514807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Outlier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OP-1051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73952" y="4937760"/>
            <a:ext cx="1371600" cy="1371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8" name="Text 16"/>
          <p:cNvSpPr/>
          <p:nvPr/>
        </p:nvSpPr>
        <p:spPr>
          <a:xfrm>
            <a:off x="6473952" y="46451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$0.62M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73952" y="514807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Negativo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OP-1052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955280" y="3965062"/>
            <a:ext cx="1371600" cy="110985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1" name="Text 19"/>
          <p:cNvSpPr/>
          <p:nvPr/>
        </p:nvSpPr>
        <p:spPr>
          <a:xfrm>
            <a:off x="7955280" y="367245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$69.71M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955280" y="514807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950" dirty="0" err="1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normales</a:t>
            </a:r>
            <a:r>
              <a:rPr lang="en-US" sz="9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436608" y="3941658"/>
            <a:ext cx="1371600" cy="1133262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4" name="Text 22"/>
          <p:cNvSpPr/>
          <p:nvPr/>
        </p:nvSpPr>
        <p:spPr>
          <a:xfrm>
            <a:off x="9436608" y="364905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$71.18M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436608" y="5148072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 err="1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</a:t>
            </a:r>
            <a:r>
              <a:rPr lang="en-US" sz="9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Control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(sistema)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006840" y="1600200"/>
            <a:ext cx="265176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7" name="Text 25"/>
          <p:cNvSpPr/>
          <p:nvPr/>
        </p:nvSpPr>
        <p:spPr>
          <a:xfrm>
            <a:off x="9189720" y="175564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EXPLICAR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89720" y="2148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-$1.47M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189720" y="27432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-2.1% del control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Marcada</a:t>
            </a: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forzada a cuadrar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 — Claudia Anaya Morales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· CONCILIAR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dónde sale cada diferencia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195560" cy="1051560"/>
          </a:xfrm>
          <a:prstGeom prst="roundRect">
            <a:avLst>
              <a:gd name="adj" fmla="val 52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5" name="Shape 3"/>
          <p:cNvSpPr/>
          <p:nvPr/>
        </p:nvSpPr>
        <p:spPr>
          <a:xfrm>
            <a:off x="749808" y="2125980"/>
            <a:ext cx="182880" cy="182880"/>
          </a:xfrm>
          <a:prstGeom prst="ellipse">
            <a:avLst/>
          </a:prstGeom>
          <a:solidFill>
            <a:srgbClr val="1E8F6F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6" name="Text 4"/>
          <p:cNvSpPr/>
          <p:nvPr/>
        </p:nvSpPr>
        <p:spPr>
          <a:xfrm>
            <a:off x="1051560" y="178308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 ($980K)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0" y="1783080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operación se capturó dos veces en el sistema de origen. Al contarla una sola vez, el total baja de forma trazable.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10195560" cy="1051560"/>
          </a:xfrm>
          <a:prstGeom prst="roundRect">
            <a:avLst>
              <a:gd name="adj" fmla="val 52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9" name="Shape 7"/>
          <p:cNvSpPr/>
          <p:nvPr/>
        </p:nvSpPr>
        <p:spPr>
          <a:xfrm>
            <a:off x="749808" y="3296412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0" name="Text 8"/>
          <p:cNvSpPr/>
          <p:nvPr/>
        </p:nvSpPr>
        <p:spPr>
          <a:xfrm>
            <a:off x="1051560" y="2953512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($85M, OP-1051)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0" y="2953512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veces la mediana del resto de operaciones. Posible error de </a:t>
            </a:r>
            <a:r>
              <a:rPr lang="en-US" sz="1150" dirty="0" err="1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*Se aísla para no distorsionar el total, no se descarta sin dejar rastro.</a:t>
            </a:r>
            <a:endParaRPr lang="en-US" sz="1150" i="1" dirty="0"/>
          </a:p>
        </p:txBody>
      </p:sp>
      <p:sp>
        <p:nvSpPr>
          <p:cNvPr id="12" name="Shape 10"/>
          <p:cNvSpPr/>
          <p:nvPr/>
        </p:nvSpPr>
        <p:spPr>
          <a:xfrm>
            <a:off x="548640" y="4032504"/>
            <a:ext cx="10195560" cy="1051560"/>
          </a:xfrm>
          <a:prstGeom prst="roundRect">
            <a:avLst>
              <a:gd name="adj" fmla="val 52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3" name="Shape 11"/>
          <p:cNvSpPr/>
          <p:nvPr/>
        </p:nvSpPr>
        <p:spPr>
          <a:xfrm>
            <a:off x="749808" y="4466844"/>
            <a:ext cx="182880" cy="18288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4" name="Text 12"/>
          <p:cNvSpPr/>
          <p:nvPr/>
        </p:nvSpPr>
        <p:spPr>
          <a:xfrm>
            <a:off x="1051560" y="4123944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 (-$620K, OP-1052)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0" y="4123944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monto negativo no debería existir en un reporte de </a:t>
            </a:r>
            <a:r>
              <a:rPr lang="en-US" sz="1150" dirty="0" err="1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colocación</a:t>
            </a: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en-US" sz="1150" i="1" dirty="0" err="1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Probablemente</a:t>
            </a:r>
            <a:r>
              <a:rPr lang="en-US" sz="1150" i="1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una cancelación mal clasificada.</a:t>
            </a:r>
            <a:endParaRPr lang="en-US" sz="1150" i="1" dirty="0"/>
          </a:p>
        </p:txBody>
      </p:sp>
      <p:sp>
        <p:nvSpPr>
          <p:cNvPr id="16" name="Shape 14"/>
          <p:cNvSpPr/>
          <p:nvPr/>
        </p:nvSpPr>
        <p:spPr>
          <a:xfrm>
            <a:off x="548640" y="5202936"/>
            <a:ext cx="10195560" cy="1051560"/>
          </a:xfrm>
          <a:prstGeom prst="roundRect">
            <a:avLst>
              <a:gd name="adj" fmla="val 521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7" name="Shape 15"/>
          <p:cNvSpPr/>
          <p:nvPr/>
        </p:nvSpPr>
        <p:spPr>
          <a:xfrm>
            <a:off x="749808" y="5637276"/>
            <a:ext cx="182880" cy="1828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8" name="Text 16"/>
          <p:cNvSpPr/>
          <p:nvPr/>
        </p:nvSpPr>
        <p:spPr>
          <a:xfrm>
            <a:off x="1051560" y="5294376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(-$1.47M, -2.1%)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0" y="5294376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explica con la información disponible.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en-US" sz="1150" i="1" dirty="0" err="1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Posibles</a:t>
            </a:r>
            <a:r>
              <a:rPr lang="en-US" sz="1150" i="1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causas a validar: operaciones fuera de corte, otro canal no capturado, ajustes manuales posteriores.</a:t>
            </a:r>
            <a:endParaRPr lang="en-US" sz="1150" i="1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 — Claudia Anaya Morales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ANALIZAR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de cumplimiento </a:t>
            </a:r>
            <a:r>
              <a:rPr lang="en-US" sz="3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ejecutivo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694944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691640"/>
            <a:ext cx="3886200" cy="1965960"/>
          </a:xfrm>
          <a:prstGeom prst="roundRect">
            <a:avLst>
              <a:gd name="adj" fmla="val 3721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6" name="Shape 3"/>
          <p:cNvSpPr/>
          <p:nvPr/>
        </p:nvSpPr>
        <p:spPr>
          <a:xfrm>
            <a:off x="8001000" y="1901952"/>
            <a:ext cx="201168" cy="201168"/>
          </a:xfrm>
          <a:prstGeom prst="ellipse">
            <a:avLst/>
          </a:prstGeom>
          <a:solidFill>
            <a:srgbClr val="1E8F6F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7" name="Text 4"/>
          <p:cNvSpPr/>
          <p:nvPr/>
        </p:nvSpPr>
        <p:spPr>
          <a:xfrm>
            <a:off x="8302752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Raúl Mendoza — 128%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001000" y="224028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real: cumplimiento consistente en varias operaciones, no en una sola.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0" y="3886200"/>
            <a:ext cx="3886200" cy="1965960"/>
          </a:xfrm>
          <a:prstGeom prst="roundRect">
            <a:avLst>
              <a:gd name="adj" fmla="val 3721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0" name="Shape 7"/>
          <p:cNvSpPr/>
          <p:nvPr/>
        </p:nvSpPr>
        <p:spPr>
          <a:xfrm>
            <a:off x="8001000" y="4096512"/>
            <a:ext cx="201168" cy="20116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1" name="Text 8"/>
          <p:cNvSpPr/>
          <p:nvPr/>
        </p:nvSpPr>
        <p:spPr>
          <a:xfrm>
            <a:off x="8302752" y="40233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Salas — 0% ajustado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001000" y="4434840"/>
            <a:ext cx="3520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única operación es el outlier OP-1051. Sin validarlo, su cumplimiento real es cero (no 10,625%).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 — Claudia Anaya Morales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ANALIZAR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Cumplimiento por región y distribución por segmento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Cumplimiento por región (ajustado)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067686664"/>
              </p:ext>
            </p:extLst>
          </p:nvPr>
        </p:nvGraphicFramePr>
        <p:xfrm>
          <a:off x="457200" y="1828800"/>
          <a:ext cx="53949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97764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05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prácticamente en meta; </a:t>
            </a:r>
            <a:r>
              <a:rPr lang="en-US" sz="105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solo llega a 93.7% al aislar el outlier de Diego Salas.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172200" y="1463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colocación </a:t>
            </a:r>
            <a:r>
              <a:rPr lang="en-US" sz="12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</a:t>
            </a:r>
            <a:endParaRPr lang="en-US" sz="125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172200" y="1828800"/>
          <a:ext cx="539496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 5"/>
          <p:cNvSpPr/>
          <p:nvPr/>
        </p:nvSpPr>
        <p:spPr>
          <a:xfrm>
            <a:off x="6172200" y="457200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Empresarial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cae de 64.7% a 21.0% sin el outlier  (</a:t>
            </a:r>
            <a:r>
              <a:rPr lang="en-US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ser el </a:t>
            </a:r>
            <a:r>
              <a:rPr lang="en-US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</a:t>
            </a:r>
            <a:r>
              <a:rPr lang="en-US" sz="105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pasa a ser el real.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 — Claudia Anaya Morales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ANALIZAR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hallazgos relevantes para negocio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195560" cy="2194560"/>
          </a:xfrm>
          <a:prstGeom prst="roundRect">
            <a:avLst>
              <a:gd name="adj" fmla="val 3333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011680" y="19202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registro decide quién parece ganar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011680" y="2423160"/>
            <a:ext cx="8503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outlier OP-1051 es la única operación de Diego Salas. Sin validarlo, dispara su cumplimiento a 10,625% y el de la región Centro a 679.9%  y convierte a Empresarial en el </a:t>
            </a:r>
            <a:r>
              <a:rPr lang="en-US" sz="1200" dirty="0" err="1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</a:t>
            </a:r>
            <a:r>
              <a:rPr lang="en-US" sz="12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</a:t>
            </a:r>
            <a:r>
              <a:rPr lang="en-US" sz="1200" dirty="0" err="1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</a:t>
            </a:r>
            <a:r>
              <a:rPr lang="en-US" sz="12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con 64.7%. 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10195560" cy="2194560"/>
          </a:xfrm>
          <a:prstGeom prst="roundRect">
            <a:avLst>
              <a:gd name="adj" fmla="val 3333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9" name="Text 7"/>
          <p:cNvSpPr/>
          <p:nvPr/>
        </p:nvSpPr>
        <p:spPr>
          <a:xfrm>
            <a:off x="777240" y="429768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011680" y="43434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desempeño real está en otro lado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011680" y="4846320"/>
            <a:ext cx="8503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Ajustando por el outlier y el negativo: el mejor desempeño es Raúl Mendoza (128%, Sur, consistente en varias operaciones) y el más rezagado es Paola Cruz (66%, Sur), afectada por la única operación en negativo. El segmento líder real es Personas (32.5%), no Empresarial.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 — Claudia Anaya Morales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· CRITERIO VS. 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y después de validar los datos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736592" cy="4892040"/>
          </a:xfrm>
          <a:prstGeom prst="roundRect">
            <a:avLst>
              <a:gd name="adj" fmla="val 1544"/>
            </a:avLst>
          </a:prstGeom>
          <a:solidFill>
            <a:srgbClr val="FBEDEB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/>
          <p:nvPr/>
        </p:nvSpPr>
        <p:spPr>
          <a:xfrm>
            <a:off x="822960" y="1709928"/>
            <a:ext cx="4187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VALIDAR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187952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 colocación total de la semana alcanzó $153,820,000, equivalente al 214% de la meta global de $72,000,000. Excelente cierre de semana.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ejecutivo más destacado fue Diego Salas, con $85,000,000 colocados, muy por encima del resto del equipo. Se recomienda replicar su estrategia comercial.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segmento Empresarial es claramente el de mayor colocación y el que impulsa el resultado.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6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Hubo una operación con monto negativo, pero se ignoró por ser un caso menor.”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16752" y="1508760"/>
            <a:ext cx="4736592" cy="4892040"/>
          </a:xfrm>
          <a:prstGeom prst="roundRect">
            <a:avLst>
              <a:gd name="adj" fmla="val 1544"/>
            </a:avLst>
          </a:prstGeom>
          <a:solidFill>
            <a:srgbClr val="E7F3EE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8" name="Text 6"/>
          <p:cNvSpPr/>
          <p:nvPr/>
        </p:nvSpPr>
        <p:spPr>
          <a:xfrm>
            <a:off x="6291072" y="1709928"/>
            <a:ext cx="4187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E8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291072" y="2103120"/>
            <a:ext cx="4187952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75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colocación validada de la semana es de $69.71M (96.8% de la meta), tras deduplicar y aislar registros con problemas de calidad. Queda una diferencia de -$1.47M (-2.1%) contra el control de sistemas, pendiente de </a:t>
            </a:r>
            <a:r>
              <a:rPr lang="en-US" sz="1100" dirty="0" err="1">
                <a:solidFill>
                  <a:srgbClr val="175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r>
              <a:rPr lang="en-US" sz="1100" dirty="0">
                <a:solidFill>
                  <a:srgbClr val="175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75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ejecutivo con mejor cumplimiento validado es Raúl Mendoza (128%). La operación de Diego Salas es un outlier sin confirmar; su cumplimiento validado es 0%, no el más alto del equipo.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75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segmento líder real es Personas (32.5%), no Empresarial; </a:t>
            </a:r>
            <a:r>
              <a:rPr lang="en-US" sz="1100" dirty="0" err="1">
                <a:solidFill>
                  <a:srgbClr val="175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100" dirty="0">
                <a:solidFill>
                  <a:srgbClr val="175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64.7% dependía del mismo outlier.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75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monto negativo (OP-1052, -$620K) queda marcado para validación, no </a:t>
            </a:r>
            <a:r>
              <a:rPr lang="en-US" sz="1100" dirty="0" err="1">
                <a:solidFill>
                  <a:srgbClr val="175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</a:t>
            </a:r>
            <a:r>
              <a:rPr lang="en-US" sz="1100" dirty="0">
                <a:solidFill>
                  <a:srgbClr val="175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94960" y="3698748"/>
            <a:ext cx="512064" cy="51206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11" name="Text 9"/>
          <p:cNvSpPr/>
          <p:nvPr/>
        </p:nvSpPr>
        <p:spPr>
          <a:xfrm>
            <a:off x="5394960" y="36987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 — Claudia Anaya Morales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· CRITERIO VS. 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estaba mal, y por qué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195560" cy="1051560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"$153.8M, 214% de meta"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un total sin deduplicar que además incluye el outlier sin cuestionarlo. Nunca se concilió contra el control ya validado por sistemas.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"Diego Salas, destacado"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51960" y="2834640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su resultado es un solo </a:t>
            </a:r>
            <a:r>
              <a:rPr lang="en-US" sz="1150" dirty="0" err="1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50" dirty="0" err="1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justo</a:t>
            </a: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</a:t>
            </a: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</a:t>
            </a: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atípico</a:t>
            </a: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Superar su meta 106 veces con una operación debía disparar </a:t>
            </a:r>
            <a:r>
              <a:rPr lang="en-US" sz="1150" dirty="0" err="1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10195560" cy="1051560"/>
          </a:xfrm>
          <a:prstGeom prst="rect">
            <a:avLst/>
          </a:prstGeom>
          <a:solidFill>
            <a:srgbClr val="EEF3F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0" name="Text 8"/>
          <p:cNvSpPr/>
          <p:nvPr/>
        </p:nvSpPr>
        <p:spPr>
          <a:xfrm>
            <a:off x="777240" y="388620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"Empresarial impulsa el resultado"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51960" y="3886200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enteramente del outlier. Sin él, cae a 21.0% y pasa a último lugar de 4 segmentos.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493776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negativo se ignoró"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51960" y="4937760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un dato no es lo mismo </a:t>
            </a:r>
            <a:r>
              <a:rPr lang="en-US" sz="1150" dirty="0" err="1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validarlo</a:t>
            </a:r>
            <a:r>
              <a:rPr lang="en-US" sz="11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rompe la trazabilidad de si el total lo incluye o no.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6035040"/>
            <a:ext cx="10195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detrás de los </a:t>
            </a:r>
            <a:r>
              <a:rPr lang="en-US" sz="125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puntos</a:t>
            </a: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 </a:t>
            </a:r>
            <a:r>
              <a:rPr lang="en-US" sz="1250" i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aceptaron</a:t>
            </a: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</a:t>
            </a: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grandes y afirmaciones </a:t>
            </a:r>
            <a:r>
              <a:rPr lang="en-US" sz="1250" i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seguras</a:t>
            </a: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preguntar de dónde salían.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 — Claudia Anaya Morales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· MEJORA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automatizaría de este proceso, y cómo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195560" cy="1920240"/>
          </a:xfrm>
          <a:prstGeom prst="roundRect">
            <a:avLst>
              <a:gd name="adj" fmla="val 3810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Automatizaría la limpieza y la conciliación como un job recurrente en Python (pandas): detección de duplicados, formatos inconsistentes y outliers estadísticos, más el cálculo automático del </a:t>
            </a:r>
            <a:r>
              <a:rPr lang="en-US" sz="1500" dirty="0" err="1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</a:t>
            </a:r>
            <a:r>
              <a:rPr lang="en-US" sz="150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el total de control cada vez que llega el reporte semanal.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</a:t>
            </a:r>
            <a:r>
              <a:rPr lang="en-US" sz="14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automatizaría</a:t>
            </a: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 decisión de negocio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34340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script se detiene y </a:t>
            </a:r>
            <a:r>
              <a:rPr lang="en-US" sz="1350" dirty="0" err="1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r>
              <a:rPr lang="en-US" sz="13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</a:t>
            </a:r>
            <a:r>
              <a:rPr lang="en-US" sz="13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detecta un outlier o una diferencia residual sin explicar. Se automatiza la detección, no el </a:t>
            </a:r>
            <a:r>
              <a:rPr lang="en-US" sz="1350" dirty="0" err="1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r>
              <a:rPr lang="en-US" sz="13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350" dirty="0">
              <a:solidFill>
                <a:srgbClr val="2A2F45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 — Claudia Anaya Morales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 · BONUS SQL :D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ejecutivos </a:t>
            </a:r>
            <a:r>
              <a:rPr lang="en-US" sz="3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monto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colocado</a:t>
            </a: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en región 'Centro'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59388" cy="2834640"/>
          </a:xfrm>
          <a:prstGeom prst="roundRect">
            <a:avLst>
              <a:gd name="adj" fmla="val 2581"/>
            </a:avLst>
          </a:prstGeom>
          <a:solidFill>
            <a:srgbClr val="141B47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3734851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ea typeface="Courier New" pitchFamily="34" charset="-122"/>
                <a:cs typeface="Courier New" pitchFamily="34" charset="-120"/>
              </a:rPr>
              <a:t>SELECT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ea typeface="Courier New" pitchFamily="34" charset="-122"/>
                <a:cs typeface="Courier New" pitchFamily="34" charset="-120"/>
              </a:rPr>
              <a:t>    ejecutivo,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ea typeface="Courier New" pitchFamily="34" charset="-122"/>
                <a:cs typeface="Courier New" pitchFamily="34" charset="-120"/>
              </a:rPr>
              <a:t>    SUM(monto) AS monto_colocado,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ea typeface="Courier New" pitchFamily="34" charset="-122"/>
                <a:cs typeface="Courier New" pitchFamily="34" charset="-120"/>
              </a:rPr>
              <a:t>    COUNT(*)   AS num_operaciones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ea typeface="Courier New" pitchFamily="34" charset="-122"/>
                <a:cs typeface="Courier New" pitchFamily="34" charset="-120"/>
              </a:rPr>
              <a:t>FROM operaciones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ea typeface="Courier New" pitchFamily="34" charset="-122"/>
                <a:cs typeface="Courier New" pitchFamily="34" charset="-120"/>
              </a:rPr>
              <a:t>WHERE region = 'Centro'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ea typeface="Courier New" pitchFamily="34" charset="-122"/>
                <a:cs typeface="Courier New" pitchFamily="34" charset="-120"/>
              </a:rPr>
              <a:t>GROUP BY ejecutivo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ea typeface="Courier New" pitchFamily="34" charset="-122"/>
                <a:cs typeface="Courier New" pitchFamily="34" charset="-120"/>
              </a:rPr>
              <a:t>ORDER BY monto_colocado DESC</a:t>
            </a:r>
            <a:endParaRPr lang="en-US" sz="15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ea typeface="Courier New" pitchFamily="34" charset="-122"/>
                <a:cs typeface="Courier New" pitchFamily="34" charset="-120"/>
              </a:rPr>
              <a:t>LIMIT 5;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Especialista GI — Claudia Anaya Morales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Declaración de uso de 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195560" cy="960120"/>
          </a:xfrm>
          <a:prstGeom prst="roundRect">
            <a:avLst>
              <a:gd name="adj" fmla="val 7619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/>
          <p:nvPr/>
        </p:nvSpPr>
        <p:spPr>
          <a:xfrm>
            <a:off x="822960" y="16642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Ollama, corriendo Llama 3.1 en local (modelo open source). 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4736592" cy="2880360"/>
          </a:xfrm>
          <a:prstGeom prst="roundRect">
            <a:avLst>
              <a:gd name="adj" fmla="val 2540"/>
            </a:avLst>
          </a:prstGeom>
          <a:solidFill>
            <a:srgbClr val="E7F3EE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8" name="Text 6"/>
          <p:cNvSpPr/>
          <p:nvPr/>
        </p:nvSpPr>
        <p:spPr>
          <a:xfrm>
            <a:off x="822960" y="2898648"/>
            <a:ext cx="4187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E8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USÓ IA PARA: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22960" y="3419856"/>
            <a:ext cx="109728" cy="109728"/>
          </a:xfrm>
          <a:prstGeom prst="ellipse">
            <a:avLst/>
          </a:prstGeom>
          <a:solidFill>
            <a:srgbClr val="1E8F6F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0" name="Text 8"/>
          <p:cNvSpPr/>
          <p:nvPr/>
        </p:nvSpPr>
        <p:spPr>
          <a:xfrm>
            <a:off x="1051560" y="3300984"/>
            <a:ext cx="3959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5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— redactar la explicación en prosa de cada diferencia de conciliación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950208"/>
            <a:ext cx="109728" cy="109728"/>
          </a:xfrm>
          <a:prstGeom prst="ellipse">
            <a:avLst/>
          </a:prstGeom>
          <a:solidFill>
            <a:srgbClr val="1E8F6F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2" name="Text 10"/>
          <p:cNvSpPr/>
          <p:nvPr/>
        </p:nvSpPr>
        <p:spPr>
          <a:xfrm>
            <a:off x="1051560" y="3831336"/>
            <a:ext cx="39593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5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— redactar los 2 hallazgos relevantes a partir de las tablas ya calculadas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16752" y="2697480"/>
            <a:ext cx="4736592" cy="2880360"/>
          </a:xfrm>
          <a:prstGeom prst="roundRect">
            <a:avLst>
              <a:gd name="adj" fmla="val 2540"/>
            </a:avLst>
          </a:prstGeom>
          <a:solidFill>
            <a:srgbClr val="FBEDEB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8" name="Text 16"/>
          <p:cNvSpPr/>
          <p:nvPr/>
        </p:nvSpPr>
        <p:spPr>
          <a:xfrm>
            <a:off x="6291072" y="2898648"/>
            <a:ext cx="4187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NO TOCÓ: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91072" y="341985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0" name="Text 18"/>
          <p:cNvSpPr/>
          <p:nvPr/>
        </p:nvSpPr>
        <p:spPr>
          <a:xfrm>
            <a:off x="6519672" y="3300984"/>
            <a:ext cx="39593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cálculos: totales, %, deduplicación, detección de outliers (se </a:t>
            </a:r>
            <a:r>
              <a:rPr lang="en-US" sz="1100" dirty="0" err="1">
                <a:solidFill>
                  <a:srgbClr val="6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usó</a:t>
            </a:r>
            <a:r>
              <a:rPr lang="en-US" sz="1100" dirty="0">
                <a:solidFill>
                  <a:srgbClr val="6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Python/pandas)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91072" y="410565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2" name="Text 20"/>
          <p:cNvSpPr/>
          <p:nvPr/>
        </p:nvSpPr>
        <p:spPr>
          <a:xfrm>
            <a:off x="6519672" y="3986784"/>
            <a:ext cx="39593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cifras citadas en su propio texto: un verificador automático las compara contra las tablas y marca lo que no cuadra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91072" y="4791456"/>
            <a:ext cx="109728" cy="109728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24" name="Text 22"/>
          <p:cNvSpPr/>
          <p:nvPr/>
        </p:nvSpPr>
        <p:spPr>
          <a:xfrm>
            <a:off x="6519672" y="4672584"/>
            <a:ext cx="39593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 final: cada número atípico queda marcado para </a:t>
            </a:r>
            <a:r>
              <a:rPr lang="en-US" sz="1100" dirty="0" err="1">
                <a:solidFill>
                  <a:srgbClr val="6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r>
              <a:rPr lang="en-US" sz="1100" dirty="0">
                <a:solidFill>
                  <a:srgbClr val="6E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humana.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</a:t>
            </a:r>
            <a:r>
              <a:rPr lang="en-US" sz="9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 — Claudia Anaya Morales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29" name="Picture 28" descr="Ollama AI Logo | Free SVG &amp; PNG Download">
            <a:extLst>
              <a:ext uri="{FF2B5EF4-FFF2-40B4-BE49-F238E27FC236}">
                <a16:creationId xmlns:a16="http://schemas.microsoft.com/office/drawing/2014/main" id="{C5AB7868-2776-0A2A-0F7A-FE57F4D2B6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489" b="30207"/>
          <a:stretch>
            <a:fillRect/>
          </a:stretch>
        </p:blipFill>
        <p:spPr>
          <a:xfrm>
            <a:off x="3686741" y="2803777"/>
            <a:ext cx="1236345" cy="473570"/>
          </a:xfrm>
          <a:prstGeom prst="rect">
            <a:avLst/>
          </a:prstGeom>
        </p:spPr>
      </p:pic>
      <p:pic>
        <p:nvPicPr>
          <p:cNvPr id="30" name="Picture 29" descr="Archivo:Python-logo-notext.svg - Wikipedia, la enciclopedia libre">
            <a:extLst>
              <a:ext uri="{FF2B5EF4-FFF2-40B4-BE49-F238E27FC236}">
                <a16:creationId xmlns:a16="http://schemas.microsoft.com/office/drawing/2014/main" id="{B961909F-0DF9-134A-486B-EAE55A68AE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9069" y="2777297"/>
            <a:ext cx="526531" cy="52653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B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este </a:t>
            </a:r>
            <a:r>
              <a:rPr lang="en-US" sz="27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</a:t>
            </a: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7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5" name="Text 3"/>
          <p:cNvSpPr/>
          <p:nvPr/>
        </p:nvSpPr>
        <p:spPr>
          <a:xfrm>
            <a:off x="914400" y="170992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tomar el dato al pie de la letra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14400" y="2002536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total 214% de meta o un ejecutivo 106x su cuota no son un titular, son la primera señal de que algo necesita revisión antes de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reportarse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72491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al validar cada cifra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2898648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se reportó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“sonar bien”.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621024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1" name="Text 9"/>
          <p:cNvSpPr/>
          <p:nvPr/>
        </p:nvSpPr>
        <p:spPr>
          <a:xfrm>
            <a:off x="914400" y="350215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Claridad en el análisis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3794760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lo validado de lo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4517136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4" name="Text 12"/>
          <p:cNvSpPr/>
          <p:nvPr/>
        </p:nvSpPr>
        <p:spPr>
          <a:xfrm>
            <a:off x="914400" y="439826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termina la IA y empieza el criterio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4400" y="4690872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redactó explicaciones y aceleró la escritura; decidir qué era un error, qué se validaba y qué quedaba pendiente siempre fue una decisión humana, no del modelo.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5413248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MX"/>
          </a:p>
        </p:txBody>
      </p:sp>
      <p:sp>
        <p:nvSpPr>
          <p:cNvPr id="17" name="Text 15"/>
          <p:cNvSpPr/>
          <p:nvPr/>
        </p:nvSpPr>
        <p:spPr>
          <a:xfrm>
            <a:off x="914400" y="5294376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ayudó la IA en este caso, en concreto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14400" y="5586984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limpieza, la conciliación y el análisis ya resueltos en Python, la IA local liberó tiempo para cuestionar los resultados en vez de redactarlos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</a:t>
            </a: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cero. Y, cuando se equivocó, el mismo proceso lo detectó antes de llegar aquí.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6263640"/>
            <a:ext cx="11064240" cy="0"/>
          </a:xfrm>
          <a:prstGeom prst="line">
            <a:avLst/>
          </a:prstGeom>
          <a:noFill/>
          <a:ln w="9525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MX"/>
          </a:p>
        </p:txBody>
      </p:sp>
      <p:sp>
        <p:nvSpPr>
          <p:cNvPr id="20" name="Text 18"/>
          <p:cNvSpPr/>
          <p:nvPr/>
        </p:nvSpPr>
        <p:spPr>
          <a:xfrm>
            <a:off x="1005840" y="642264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</a:t>
            </a:r>
            <a:r>
              <a:rPr lang="en-US" sz="1100" b="1" dirty="0" err="1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/claudiaanm08-gif/Caso-</a:t>
            </a:r>
            <a:r>
              <a:rPr lang="en-US" sz="1100" b="1" dirty="0" err="1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</a:t>
            </a:r>
            <a:endParaRPr lang="en-US" sz="1100" dirty="0">
              <a:solidFill>
                <a:srgbClr val="E8A33D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5394960" y="64008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Claudia Anaya Morales</a:t>
            </a:r>
            <a:endParaRPr lang="en-US" sz="10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7C29E3D-03D7-77A4-4113-48966FC4D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76" y="6309360"/>
            <a:ext cx="500888" cy="500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1989</Words>
  <Application>Microsoft Macintosh PowerPoint</Application>
  <PresentationFormat>Widescreen</PresentationFormat>
  <Paragraphs>243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Claudia Anaya</cp:lastModifiedBy>
  <cp:revision>9</cp:revision>
  <dcterms:created xsi:type="dcterms:W3CDTF">2026-08-13T09:39:40Z</dcterms:created>
  <dcterms:modified xsi:type="dcterms:W3CDTF">2026-08-13T12:52:20Z</dcterms:modified>
</cp:coreProperties>
</file>